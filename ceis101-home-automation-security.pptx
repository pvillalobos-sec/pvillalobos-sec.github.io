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p:bgPr>
    </p:bg>
    <p:spTree>
      <p:nvGrpSpPr>
        <p:cNvPr id="1" name=""/>
        <p:cNvGrpSpPr/>
        <p:nvPr/>
      </p:nvGrpSpPr>
      <p:grpSpPr>
        <a:xfrm>
          <a:off x="0" y="0"/>
          <a:ext cx="0" cy="0"/>
          <a:chOff x="0" y="0"/>
          <a:chExt cx="0" cy="0"/>
        </a:xfrm>
      </p:grpSpPr>
      <p:sp>
        <p:nvSpPr>
          <p:cNvPr id="2" name="Text 0"/>
          <p:cNvSpPr/>
          <p:nvPr/>
        </p:nvSpPr>
        <p:spPr>
          <a:xfrm>
            <a:off x="822960" y="2148840"/>
            <a:ext cx="9144000" cy="365760"/>
          </a:xfrm>
          <a:prstGeom prst="rect">
            <a:avLst/>
          </a:prstGeom>
          <a:noFill/>
          <a:ln/>
        </p:spPr>
        <p:txBody>
          <a:bodyPr wrap="square" rtlCol="0" anchor="ctr"/>
          <a:lstStyle/>
          <a:p>
            <a:pPr indent="0" marL="0">
              <a:buNone/>
            </a:pPr>
            <a:r>
              <a:rPr lang="en-US" sz="1300" b="1" spc="200" kern="0" dirty="0">
                <a:solidFill>
                  <a:srgbClr val="5EE6C7"/>
                </a:solidFill>
                <a:latin typeface="Arial" pitchFamily="34" charset="0"/>
                <a:ea typeface="Arial" pitchFamily="34" charset="-122"/>
                <a:cs typeface="Arial" pitchFamily="34" charset="-120"/>
              </a:rPr>
              <a:t>CEIS101 · FINAL PROJECT</a:t>
            </a:r>
            <a:endParaRPr lang="en-US" sz="1300" dirty="0"/>
          </a:p>
        </p:txBody>
      </p:sp>
      <p:sp>
        <p:nvSpPr>
          <p:cNvPr id="3" name="Text 1"/>
          <p:cNvSpPr/>
          <p:nvPr/>
        </p:nvSpPr>
        <p:spPr>
          <a:xfrm>
            <a:off x="822960" y="2560320"/>
            <a:ext cx="10424160" cy="1554480"/>
          </a:xfrm>
          <a:prstGeom prst="rect">
            <a:avLst/>
          </a:prstGeom>
          <a:noFill/>
          <a:ln/>
        </p:spPr>
        <p:txBody>
          <a:bodyPr wrap="square" rtlCol="0" anchor="ctr"/>
          <a:lstStyle/>
          <a:p>
            <a:pPr indent="0" marL="0">
              <a:lnSpc>
                <a:spcPct val="105000"/>
              </a:lnSpc>
              <a:buNone/>
            </a:pPr>
            <a:r>
              <a:rPr lang="en-US" sz="4000" b="1" dirty="0">
                <a:solidFill>
                  <a:srgbClr val="DCE4EE"/>
                </a:solidFill>
                <a:latin typeface="Arial" pitchFamily="34" charset="0"/>
                <a:ea typeface="Arial" pitchFamily="34" charset="-122"/>
                <a:cs typeface="Arial" pitchFamily="34" charset="-120"/>
              </a:rPr>
              <a:t>Home Automation Security System</a:t>
            </a:r>
            <a:endParaRPr lang="en-US" sz="4000" dirty="0"/>
          </a:p>
        </p:txBody>
      </p:sp>
      <p:sp>
        <p:nvSpPr>
          <p:cNvPr id="4" name="Text 2"/>
          <p:cNvSpPr/>
          <p:nvPr/>
        </p:nvSpPr>
        <p:spPr>
          <a:xfrm>
            <a:off x="822960" y="3977640"/>
            <a:ext cx="8778240" cy="822960"/>
          </a:xfrm>
          <a:prstGeom prst="rect">
            <a:avLst/>
          </a:prstGeom>
          <a:noFill/>
          <a:ln/>
        </p:spPr>
        <p:txBody>
          <a:bodyPr wrap="square" rtlCol="0" anchor="ctr"/>
          <a:lstStyle/>
          <a:p>
            <a:pPr indent="0" marL="0">
              <a:lnSpc>
                <a:spcPct val="130000"/>
              </a:lnSpc>
              <a:buNone/>
            </a:pPr>
            <a:r>
              <a:rPr lang="en-US" sz="1600" dirty="0">
                <a:solidFill>
                  <a:srgbClr val="8FA0B3"/>
                </a:solidFill>
                <a:latin typeface="Arial" pitchFamily="34" charset="0"/>
                <a:ea typeface="Arial" pitchFamily="34" charset="-122"/>
                <a:cs typeface="Arial" pitchFamily="34" charset="-120"/>
              </a:rPr>
              <a:t>A sensor-driven smart home security prototype, designed and simulated in TinkerCad.</a:t>
            </a:r>
            <a:endParaRPr lang="en-US" sz="1600" dirty="0"/>
          </a:p>
        </p:txBody>
      </p:sp>
      <p:sp>
        <p:nvSpPr>
          <p:cNvPr id="5" name="Text 3"/>
          <p:cNvSpPr/>
          <p:nvPr/>
        </p:nvSpPr>
        <p:spPr>
          <a:xfrm>
            <a:off x="822960" y="5989320"/>
            <a:ext cx="8229600" cy="365760"/>
          </a:xfrm>
          <a:prstGeom prst="rect">
            <a:avLst/>
          </a:prstGeom>
          <a:noFill/>
          <a:ln/>
        </p:spPr>
        <p:txBody>
          <a:bodyPr wrap="square" rtlCol="0" anchor="ctr"/>
          <a:lstStyle/>
          <a:p>
            <a:pPr indent="0" marL="0">
              <a:buNone/>
            </a:pPr>
            <a:r>
              <a:rPr lang="en-US" sz="1150" spc="50" kern="0" dirty="0">
                <a:solidFill>
                  <a:srgbClr val="8FA0B3"/>
                </a:solidFill>
                <a:latin typeface="Arial" pitchFamily="34" charset="0"/>
                <a:ea typeface="Arial" pitchFamily="34" charset="-122"/>
                <a:cs typeface="Arial" pitchFamily="34" charset="-120"/>
              </a:rPr>
              <a:t>Philip Villalobos  ·  DeVry University</a:t>
            </a:r>
            <a:endParaRPr lang="en-US" sz="1150" dirty="0"/>
          </a:p>
        </p:txBody>
      </p:sp>
      <p:sp>
        <p:nvSpPr>
          <p:cNvPr id="6" name="Shape 4"/>
          <p:cNvSpPr/>
          <p:nvPr/>
        </p:nvSpPr>
        <p:spPr>
          <a:xfrm>
            <a:off x="10271455" y="0"/>
            <a:ext cx="1920240" cy="109728"/>
          </a:xfrm>
          <a:prstGeom prst="rect">
            <a:avLst/>
          </a:prstGeom>
          <a:solidFill>
            <a:srgbClr val="11182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4"/>
        </a:solidFill>
      </p:bgPr>
    </p:bg>
    <p:spTree>
      <p:nvGrpSpPr>
        <p:cNvPr id="1" name=""/>
        <p:cNvGrpSpPr/>
        <p:nvPr/>
      </p:nvGrpSpPr>
      <p:grpSpPr>
        <a:xfrm>
          <a:off x="0" y="0"/>
          <a:ext cx="0" cy="0"/>
          <a:chOff x="0" y="0"/>
          <a:chExt cx="0" cy="0"/>
        </a:xfrm>
      </p:grpSpPr>
      <p:sp>
        <p:nvSpPr>
          <p:cNvPr id="2" name="Text 0"/>
          <p:cNvSpPr/>
          <p:nvPr/>
        </p:nvSpPr>
        <p:spPr>
          <a:xfrm>
            <a:off x="1005840" y="868680"/>
            <a:ext cx="7315200" cy="365760"/>
          </a:xfrm>
          <a:prstGeom prst="rect">
            <a:avLst/>
          </a:prstGeom>
          <a:noFill/>
          <a:ln/>
        </p:spPr>
        <p:txBody>
          <a:bodyPr wrap="square" rtlCol="0" anchor="ctr"/>
          <a:lstStyle/>
          <a:p>
            <a:pPr indent="0" marL="0">
              <a:buNone/>
            </a:pPr>
            <a:r>
              <a:rPr lang="en-US" sz="1200" b="1" spc="150" kern="0" dirty="0">
                <a:solidFill>
                  <a:srgbClr val="E8A857"/>
                </a:solidFill>
                <a:latin typeface="Arial" pitchFamily="34" charset="0"/>
                <a:ea typeface="Arial" pitchFamily="34" charset="-122"/>
                <a:cs typeface="Arial" pitchFamily="34" charset="-120"/>
              </a:rPr>
              <a:t>OVERVIEW</a:t>
            </a:r>
            <a:endParaRPr lang="en-US" sz="1200" dirty="0"/>
          </a:p>
        </p:txBody>
      </p:sp>
      <p:sp>
        <p:nvSpPr>
          <p:cNvPr id="3" name="Text 1"/>
          <p:cNvSpPr/>
          <p:nvPr/>
        </p:nvSpPr>
        <p:spPr>
          <a:xfrm>
            <a:off x="1005840" y="1280160"/>
            <a:ext cx="10058400" cy="822960"/>
          </a:xfrm>
          <a:prstGeom prst="rect">
            <a:avLst/>
          </a:prstGeom>
          <a:noFill/>
          <a:ln/>
        </p:spPr>
        <p:txBody>
          <a:bodyPr wrap="square" rtlCol="0" anchor="ctr"/>
          <a:lstStyle/>
          <a:p>
            <a:pPr indent="0" marL="0">
              <a:buNone/>
            </a:pPr>
            <a:r>
              <a:rPr lang="en-US" sz="2700" b="1" dirty="0">
                <a:solidFill>
                  <a:srgbClr val="DCE4EE"/>
                </a:solidFill>
                <a:latin typeface="Arial" pitchFamily="34" charset="0"/>
                <a:ea typeface="Arial" pitchFamily="34" charset="-122"/>
                <a:cs typeface="Arial" pitchFamily="34" charset="-120"/>
              </a:rPr>
              <a:t>Project Summary</a:t>
            </a:r>
            <a:endParaRPr lang="en-US" sz="2700" dirty="0"/>
          </a:p>
        </p:txBody>
      </p:sp>
      <p:sp>
        <p:nvSpPr>
          <p:cNvPr id="4" name="Shape 2"/>
          <p:cNvSpPr/>
          <p:nvPr/>
        </p:nvSpPr>
        <p:spPr>
          <a:xfrm>
            <a:off x="1005840" y="2286000"/>
            <a:ext cx="10177272" cy="3566160"/>
          </a:xfrm>
          <a:prstGeom prst="rect">
            <a:avLst/>
          </a:prstGeom>
          <a:solidFill>
            <a:srgbClr val="111823"/>
          </a:solidFill>
          <a:ln w="12700">
            <a:solidFill>
              <a:srgbClr val="222E4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1371600" y="2606040"/>
            <a:ext cx="9464040" cy="2926080"/>
          </a:xfrm>
          <a:prstGeom prst="rect">
            <a:avLst/>
          </a:prstGeom>
          <a:noFill/>
          <a:ln/>
        </p:spPr>
        <p:txBody>
          <a:bodyPr wrap="square" rtlCol="0" anchor="t"/>
          <a:lstStyle/>
          <a:p>
            <a:pPr indent="0" marL="0">
              <a:lnSpc>
                <a:spcPct val="145000"/>
              </a:lnSpc>
              <a:buNone/>
            </a:pPr>
            <a:r>
              <a:rPr lang="en-US" sz="1500" dirty="0">
                <a:solidFill>
                  <a:srgbClr val="8FA0B3"/>
                </a:solidFill>
                <a:latin typeface="Arial" pitchFamily="34" charset="0"/>
                <a:ea typeface="Arial" pitchFamily="34" charset="-122"/>
                <a:cs typeface="Arial" pitchFamily="34" charset="-120"/>
              </a:rPr>
              <a:t>This project explored how automation and security work together in a smart home. Using TinkerCad's circuit simulator, I designed a prototype that combines an ultrasonic distance sensor, LEDs, and an active buzzer to trigger alarm responses when an object comes within range — a hands-on introduction to how IoT sensors and automation logic interact in real-world security applications.</a:t>
            </a:r>
            <a:endParaRPr lang="en-US" sz="1500" dirty="0"/>
          </a:p>
        </p:txBody>
      </p:sp>
      <p:sp>
        <p:nvSpPr>
          <p:cNvPr id="6" name="Text 4"/>
          <p:cNvSpPr/>
          <p:nvPr/>
        </p:nvSpPr>
        <p:spPr>
          <a:xfrm>
            <a:off x="640080" y="6455664"/>
            <a:ext cx="3657600" cy="292608"/>
          </a:xfrm>
          <a:prstGeom prst="rect">
            <a:avLst/>
          </a:prstGeom>
          <a:noFill/>
          <a:ln/>
        </p:spPr>
        <p:txBody>
          <a:bodyPr wrap="square" rtlCol="0" anchor="ctr"/>
          <a:lstStyle/>
          <a:p>
            <a:pPr indent="0" marL="0">
              <a:buNone/>
            </a:pPr>
            <a:r>
              <a:rPr lang="en-US" sz="900" spc="100" kern="0" dirty="0">
                <a:solidFill>
                  <a:srgbClr val="8FA0B3"/>
                </a:solidFill>
                <a:latin typeface="Arial" pitchFamily="34" charset="0"/>
                <a:ea typeface="Arial" pitchFamily="34" charset="-122"/>
                <a:cs typeface="Arial" pitchFamily="34" charset="-120"/>
              </a:rPr>
              <a:t>02 / 06</a:t>
            </a:r>
            <a:endParaRPr lang="en-US" sz="900" dirty="0"/>
          </a:p>
        </p:txBody>
      </p:sp>
      <p:sp>
        <p:nvSpPr>
          <p:cNvPr id="7" name="Text 5"/>
          <p:cNvSpPr/>
          <p:nvPr/>
        </p:nvSpPr>
        <p:spPr>
          <a:xfrm>
            <a:off x="7894015" y="6455664"/>
            <a:ext cx="3657600" cy="292608"/>
          </a:xfrm>
          <a:prstGeom prst="rect">
            <a:avLst/>
          </a:prstGeom>
          <a:noFill/>
          <a:ln/>
        </p:spPr>
        <p:txBody>
          <a:bodyPr wrap="square" rtlCol="0" anchor="ctr"/>
          <a:lstStyle/>
          <a:p>
            <a:pPr algn="r" indent="0" marL="0">
              <a:buNone/>
            </a:pPr>
            <a:r>
              <a:rPr lang="en-US" sz="900" spc="100" kern="0" dirty="0">
                <a:solidFill>
                  <a:srgbClr val="8FA0B3"/>
                </a:solidFill>
                <a:latin typeface="Arial" pitchFamily="34" charset="0"/>
                <a:ea typeface="Arial" pitchFamily="34" charset="-122"/>
                <a:cs typeface="Arial" pitchFamily="34" charset="-120"/>
              </a:rPr>
              <a:t>PHILIP VILLALOBOS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4"/>
        </a:solidFill>
      </p:bgPr>
    </p:bg>
    <p:spTree>
      <p:nvGrpSpPr>
        <p:cNvPr id="1" name=""/>
        <p:cNvGrpSpPr/>
        <p:nvPr/>
      </p:nvGrpSpPr>
      <p:grpSpPr>
        <a:xfrm>
          <a:off x="0" y="0"/>
          <a:ext cx="0" cy="0"/>
          <a:chOff x="0" y="0"/>
          <a:chExt cx="0" cy="0"/>
        </a:xfrm>
      </p:grpSpPr>
      <p:sp>
        <p:nvSpPr>
          <p:cNvPr id="2" name="Text 0"/>
          <p:cNvSpPr/>
          <p:nvPr/>
        </p:nvSpPr>
        <p:spPr>
          <a:xfrm>
            <a:off x="822960" y="868680"/>
            <a:ext cx="5257800" cy="365760"/>
          </a:xfrm>
          <a:prstGeom prst="rect">
            <a:avLst/>
          </a:prstGeom>
          <a:noFill/>
          <a:ln/>
        </p:spPr>
        <p:txBody>
          <a:bodyPr wrap="square" rtlCol="0" anchor="ctr"/>
          <a:lstStyle/>
          <a:p>
            <a:pPr indent="0" marL="0">
              <a:buNone/>
            </a:pPr>
            <a:r>
              <a:rPr lang="en-US" sz="1200" b="1" spc="150" kern="0" dirty="0">
                <a:solidFill>
                  <a:srgbClr val="E8A857"/>
                </a:solidFill>
                <a:latin typeface="Arial" pitchFamily="34" charset="0"/>
                <a:ea typeface="Arial" pitchFamily="34" charset="-122"/>
                <a:cs typeface="Arial" pitchFamily="34" charset="-120"/>
              </a:rPr>
              <a:t>BUILD</a:t>
            </a:r>
            <a:endParaRPr lang="en-US" sz="1200" dirty="0"/>
          </a:p>
        </p:txBody>
      </p:sp>
      <p:sp>
        <p:nvSpPr>
          <p:cNvPr id="3" name="Text 1"/>
          <p:cNvSpPr/>
          <p:nvPr/>
        </p:nvSpPr>
        <p:spPr>
          <a:xfrm>
            <a:off x="822960" y="1261872"/>
            <a:ext cx="5257800" cy="1051560"/>
          </a:xfrm>
          <a:prstGeom prst="rect">
            <a:avLst/>
          </a:prstGeom>
          <a:noFill/>
          <a:ln/>
        </p:spPr>
        <p:txBody>
          <a:bodyPr wrap="square" rtlCol="0" anchor="ctr"/>
          <a:lstStyle/>
          <a:p>
            <a:pPr indent="0" marL="0">
              <a:lnSpc>
                <a:spcPct val="105000"/>
              </a:lnSpc>
              <a:buNone/>
            </a:pPr>
            <a:r>
              <a:rPr lang="en-US" sz="2200" b="1" dirty="0">
                <a:solidFill>
                  <a:srgbClr val="DCE4EE"/>
                </a:solidFill>
                <a:latin typeface="Arial" pitchFamily="34" charset="0"/>
                <a:ea typeface="Arial" pitchFamily="34" charset="-122"/>
                <a:cs typeface="Arial" pitchFamily="34" charset="-120"/>
              </a:rPr>
              <a:t>Circuit Design &amp; Wiring</a:t>
            </a:r>
            <a:endParaRPr lang="en-US" sz="2200" dirty="0"/>
          </a:p>
        </p:txBody>
      </p:sp>
      <p:sp>
        <p:nvSpPr>
          <p:cNvPr id="4" name="Text 2"/>
          <p:cNvSpPr/>
          <p:nvPr/>
        </p:nvSpPr>
        <p:spPr>
          <a:xfrm>
            <a:off x="822960" y="2331720"/>
            <a:ext cx="5257800" cy="3566160"/>
          </a:xfrm>
          <a:prstGeom prst="rect">
            <a:avLst/>
          </a:prstGeom>
          <a:noFill/>
          <a:ln/>
        </p:spPr>
        <p:txBody>
          <a:bodyPr wrap="square" rtlCol="0" anchor="t"/>
          <a:lstStyle/>
          <a:p>
            <a:pPr indent="0" marL="0">
              <a:lnSpc>
                <a:spcPct val="140000"/>
              </a:lnSpc>
              <a:buNone/>
            </a:pPr>
            <a:r>
              <a:rPr lang="en-US" sz="1300" dirty="0">
                <a:solidFill>
                  <a:srgbClr val="8FA0B3"/>
                </a:solidFill>
                <a:latin typeface="Arial" pitchFamily="34" charset="0"/>
                <a:ea typeface="Arial" pitchFamily="34" charset="-122"/>
                <a:cs typeface="Arial" pitchFamily="34" charset="-120"/>
              </a:rPr>
              <a:t>The system runs on an Arduino Uno wired to an ultrasonic sensor, three LEDs, a photoresistor, and an active buzzer through a breadboard. Each component was mapped and wired individually before being integrated into a single automated circuit, with block code and Arduino IDE sketches controlling the sensor logic and alarm triggers.</a:t>
            </a:r>
            <a:endParaRPr lang="en-US" sz="1300" dirty="0"/>
          </a:p>
        </p:txBody>
      </p:sp>
      <p:sp>
        <p:nvSpPr>
          <p:cNvPr id="5" name="Shape 3"/>
          <p:cNvSpPr/>
          <p:nvPr/>
        </p:nvSpPr>
        <p:spPr>
          <a:xfrm>
            <a:off x="6263640" y="822960"/>
            <a:ext cx="5074920" cy="5212080"/>
          </a:xfrm>
          <a:prstGeom prst="rect">
            <a:avLst/>
          </a:prstGeom>
          <a:solidFill>
            <a:srgbClr val="111823"/>
          </a:solidFill>
          <a:ln w="12700">
            <a:solidFill>
              <a:srgbClr val="222E40"/>
            </a:solidFill>
            <a:prstDash val="solid"/>
          </a:ln>
          <a:effectLst>
            <a:outerShdw sx="100000" sy="100000" kx="0" ky="0" algn="bl" rotWithShape="0" blurRad="101600" dist="38100" dir="5400000">
              <a:srgbClr val="000000">
                <a:alpha val="35000"/>
              </a:srgbClr>
            </a:outerShdw>
          </a:effectLst>
        </p:spPr>
      </p:sp>
      <p:pic>
        <p:nvPicPr>
          <p:cNvPr id="6" name="Image 0" descr="/home/claude/picks/ceis101_breadboard.png">    </p:cNvPr>
          <p:cNvPicPr>
            <a:picLocks noChangeAspect="1"/>
          </p:cNvPicPr>
          <p:nvPr/>
        </p:nvPicPr>
        <p:blipFill>
          <a:blip r:embed="rId1"/>
          <a:stretch>
            <a:fillRect/>
          </a:stretch>
        </p:blipFill>
        <p:spPr>
          <a:xfrm>
            <a:off x="6556248" y="1742483"/>
            <a:ext cx="4489704" cy="3373034"/>
          </a:xfrm>
          <a:prstGeom prst="rect">
            <a:avLst/>
          </a:prstGeom>
        </p:spPr>
      </p:pic>
      <p:sp>
        <p:nvSpPr>
          <p:cNvPr id="7" name="Text 4"/>
          <p:cNvSpPr/>
          <p:nvPr/>
        </p:nvSpPr>
        <p:spPr>
          <a:xfrm>
            <a:off x="640080" y="6455664"/>
            <a:ext cx="3657600" cy="292608"/>
          </a:xfrm>
          <a:prstGeom prst="rect">
            <a:avLst/>
          </a:prstGeom>
          <a:noFill/>
          <a:ln/>
        </p:spPr>
        <p:txBody>
          <a:bodyPr wrap="square" rtlCol="0" anchor="ctr"/>
          <a:lstStyle/>
          <a:p>
            <a:pPr indent="0" marL="0">
              <a:buNone/>
            </a:pPr>
            <a:r>
              <a:rPr lang="en-US" sz="900" spc="100" kern="0" dirty="0">
                <a:solidFill>
                  <a:srgbClr val="8FA0B3"/>
                </a:solidFill>
                <a:latin typeface="Arial" pitchFamily="34" charset="0"/>
                <a:ea typeface="Arial" pitchFamily="34" charset="-122"/>
                <a:cs typeface="Arial" pitchFamily="34" charset="-120"/>
              </a:rPr>
              <a:t>03 / 06</a:t>
            </a:r>
            <a:endParaRPr lang="en-US" sz="900" dirty="0"/>
          </a:p>
        </p:txBody>
      </p:sp>
      <p:sp>
        <p:nvSpPr>
          <p:cNvPr id="8" name="Text 5"/>
          <p:cNvSpPr/>
          <p:nvPr/>
        </p:nvSpPr>
        <p:spPr>
          <a:xfrm>
            <a:off x="7894015" y="6455664"/>
            <a:ext cx="3657600" cy="292608"/>
          </a:xfrm>
          <a:prstGeom prst="rect">
            <a:avLst/>
          </a:prstGeom>
          <a:noFill/>
          <a:ln/>
        </p:spPr>
        <p:txBody>
          <a:bodyPr wrap="square" rtlCol="0" anchor="ctr"/>
          <a:lstStyle/>
          <a:p>
            <a:pPr algn="r" indent="0" marL="0">
              <a:buNone/>
            </a:pPr>
            <a:r>
              <a:rPr lang="en-US" sz="900" spc="100" kern="0" dirty="0">
                <a:solidFill>
                  <a:srgbClr val="8FA0B3"/>
                </a:solidFill>
                <a:latin typeface="Arial" pitchFamily="34" charset="0"/>
                <a:ea typeface="Arial" pitchFamily="34" charset="-122"/>
                <a:cs typeface="Arial" pitchFamily="34" charset="-120"/>
              </a:rPr>
              <a:t>PHILIP VILLALOBOS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4"/>
        </a:solidFill>
      </p:bgPr>
    </p:bg>
    <p:spTree>
      <p:nvGrpSpPr>
        <p:cNvPr id="1" name=""/>
        <p:cNvGrpSpPr/>
        <p:nvPr/>
      </p:nvGrpSpPr>
      <p:grpSpPr>
        <a:xfrm>
          <a:off x="0" y="0"/>
          <a:ext cx="0" cy="0"/>
          <a:chOff x="0" y="0"/>
          <a:chExt cx="0" cy="0"/>
        </a:xfrm>
      </p:grpSpPr>
      <p:sp>
        <p:nvSpPr>
          <p:cNvPr id="2" name="Text 0"/>
          <p:cNvSpPr/>
          <p:nvPr/>
        </p:nvSpPr>
        <p:spPr>
          <a:xfrm>
            <a:off x="6080760" y="868680"/>
            <a:ext cx="5257800" cy="365760"/>
          </a:xfrm>
          <a:prstGeom prst="rect">
            <a:avLst/>
          </a:prstGeom>
          <a:noFill/>
          <a:ln/>
        </p:spPr>
        <p:txBody>
          <a:bodyPr wrap="square" rtlCol="0" anchor="ctr"/>
          <a:lstStyle/>
          <a:p>
            <a:pPr indent="0" marL="0">
              <a:buNone/>
            </a:pPr>
            <a:r>
              <a:rPr lang="en-US" sz="1200" b="1" spc="150" kern="0" dirty="0">
                <a:solidFill>
                  <a:srgbClr val="E8A857"/>
                </a:solidFill>
                <a:latin typeface="Arial" pitchFamily="34" charset="0"/>
                <a:ea typeface="Arial" pitchFamily="34" charset="-122"/>
                <a:cs typeface="Arial" pitchFamily="34" charset="-120"/>
              </a:rPr>
              <a:t>RESULTS</a:t>
            </a:r>
            <a:endParaRPr lang="en-US" sz="1200" dirty="0"/>
          </a:p>
        </p:txBody>
      </p:sp>
      <p:sp>
        <p:nvSpPr>
          <p:cNvPr id="3" name="Text 1"/>
          <p:cNvSpPr/>
          <p:nvPr/>
        </p:nvSpPr>
        <p:spPr>
          <a:xfrm>
            <a:off x="6080760" y="1261872"/>
            <a:ext cx="5257800" cy="1051560"/>
          </a:xfrm>
          <a:prstGeom prst="rect">
            <a:avLst/>
          </a:prstGeom>
          <a:noFill/>
          <a:ln/>
        </p:spPr>
        <p:txBody>
          <a:bodyPr wrap="square" rtlCol="0" anchor="ctr"/>
          <a:lstStyle/>
          <a:p>
            <a:pPr indent="0" marL="0">
              <a:lnSpc>
                <a:spcPct val="105000"/>
              </a:lnSpc>
              <a:buNone/>
            </a:pPr>
            <a:r>
              <a:rPr lang="en-US" sz="2200" b="1" dirty="0">
                <a:solidFill>
                  <a:srgbClr val="DCE4EE"/>
                </a:solidFill>
                <a:latin typeface="Arial" pitchFamily="34" charset="0"/>
                <a:ea typeface="Arial" pitchFamily="34" charset="-122"/>
                <a:cs typeface="Arial" pitchFamily="34" charset="-120"/>
              </a:rPr>
              <a:t>Automated Response &amp; Testing</a:t>
            </a:r>
            <a:endParaRPr lang="en-US" sz="2200" dirty="0"/>
          </a:p>
        </p:txBody>
      </p:sp>
      <p:sp>
        <p:nvSpPr>
          <p:cNvPr id="4" name="Text 2"/>
          <p:cNvSpPr/>
          <p:nvPr/>
        </p:nvSpPr>
        <p:spPr>
          <a:xfrm>
            <a:off x="6080760" y="2331720"/>
            <a:ext cx="5257800" cy="3566160"/>
          </a:xfrm>
          <a:prstGeom prst="rect">
            <a:avLst/>
          </a:prstGeom>
          <a:noFill/>
          <a:ln/>
        </p:spPr>
        <p:txBody>
          <a:bodyPr wrap="square" rtlCol="0" anchor="t"/>
          <a:lstStyle/>
          <a:p>
            <a:pPr indent="0" marL="0">
              <a:lnSpc>
                <a:spcPct val="140000"/>
              </a:lnSpc>
              <a:buNone/>
            </a:pPr>
            <a:r>
              <a:rPr lang="en-US" sz="1300" dirty="0">
                <a:solidFill>
                  <a:srgbClr val="8FA0B3"/>
                </a:solidFill>
                <a:latin typeface="Arial" pitchFamily="34" charset="0"/>
                <a:ea typeface="Arial" pitchFamily="34" charset="-122"/>
                <a:cs typeface="Arial" pitchFamily="34" charset="-120"/>
              </a:rPr>
              <a:t>Once wired, the system was tested by moving objects at varying distances to trigger the correct LED and buzzer alarm codes. Sensor readings were logged and plotted to visualize distance data over time, confirming the automation responded reliably and consistently across repeated test runs.</a:t>
            </a:r>
            <a:endParaRPr lang="en-US" sz="1300" dirty="0"/>
          </a:p>
        </p:txBody>
      </p:sp>
      <p:sp>
        <p:nvSpPr>
          <p:cNvPr id="5" name="Shape 3"/>
          <p:cNvSpPr/>
          <p:nvPr/>
        </p:nvSpPr>
        <p:spPr>
          <a:xfrm>
            <a:off x="822960" y="822960"/>
            <a:ext cx="5074920" cy="5212080"/>
          </a:xfrm>
          <a:prstGeom prst="rect">
            <a:avLst/>
          </a:prstGeom>
          <a:solidFill>
            <a:srgbClr val="111823"/>
          </a:solidFill>
          <a:ln w="12700">
            <a:solidFill>
              <a:srgbClr val="222E40"/>
            </a:solidFill>
            <a:prstDash val="solid"/>
          </a:ln>
          <a:effectLst>
            <a:outerShdw sx="100000" sy="100000" kx="0" ky="0" algn="bl" rotWithShape="0" blurRad="101600" dist="38100" dir="5400000">
              <a:srgbClr val="000000">
                <a:alpha val="35000"/>
              </a:srgbClr>
            </a:outerShdw>
          </a:effectLst>
        </p:spPr>
      </p:sp>
      <p:pic>
        <p:nvPicPr>
          <p:cNvPr id="6" name="Image 0" descr="/home/claude/picks/ceis101_finalcircuit.png">    </p:cNvPr>
          <p:cNvPicPr>
            <a:picLocks noChangeAspect="1"/>
          </p:cNvPicPr>
          <p:nvPr/>
        </p:nvPicPr>
        <p:blipFill>
          <a:blip r:embed="rId1"/>
          <a:stretch>
            <a:fillRect/>
          </a:stretch>
        </p:blipFill>
        <p:spPr>
          <a:xfrm>
            <a:off x="1115568" y="1768046"/>
            <a:ext cx="4489704" cy="3321908"/>
          </a:xfrm>
          <a:prstGeom prst="rect">
            <a:avLst/>
          </a:prstGeom>
        </p:spPr>
      </p:pic>
      <p:sp>
        <p:nvSpPr>
          <p:cNvPr id="7" name="Text 4"/>
          <p:cNvSpPr/>
          <p:nvPr/>
        </p:nvSpPr>
        <p:spPr>
          <a:xfrm>
            <a:off x="640080" y="6455664"/>
            <a:ext cx="3657600" cy="292608"/>
          </a:xfrm>
          <a:prstGeom prst="rect">
            <a:avLst/>
          </a:prstGeom>
          <a:noFill/>
          <a:ln/>
        </p:spPr>
        <p:txBody>
          <a:bodyPr wrap="square" rtlCol="0" anchor="ctr"/>
          <a:lstStyle/>
          <a:p>
            <a:pPr indent="0" marL="0">
              <a:buNone/>
            </a:pPr>
            <a:r>
              <a:rPr lang="en-US" sz="900" spc="100" kern="0" dirty="0">
                <a:solidFill>
                  <a:srgbClr val="8FA0B3"/>
                </a:solidFill>
                <a:latin typeface="Arial" pitchFamily="34" charset="0"/>
                <a:ea typeface="Arial" pitchFamily="34" charset="-122"/>
                <a:cs typeface="Arial" pitchFamily="34" charset="-120"/>
              </a:rPr>
              <a:t>04 / 06</a:t>
            </a:r>
            <a:endParaRPr lang="en-US" sz="900" dirty="0"/>
          </a:p>
        </p:txBody>
      </p:sp>
      <p:sp>
        <p:nvSpPr>
          <p:cNvPr id="8" name="Text 5"/>
          <p:cNvSpPr/>
          <p:nvPr/>
        </p:nvSpPr>
        <p:spPr>
          <a:xfrm>
            <a:off x="7894015" y="6455664"/>
            <a:ext cx="3657600" cy="292608"/>
          </a:xfrm>
          <a:prstGeom prst="rect">
            <a:avLst/>
          </a:prstGeom>
          <a:noFill/>
          <a:ln/>
        </p:spPr>
        <p:txBody>
          <a:bodyPr wrap="square" rtlCol="0" anchor="ctr"/>
          <a:lstStyle/>
          <a:p>
            <a:pPr algn="r" indent="0" marL="0">
              <a:buNone/>
            </a:pPr>
            <a:r>
              <a:rPr lang="en-US" sz="900" spc="100" kern="0" dirty="0">
                <a:solidFill>
                  <a:srgbClr val="8FA0B3"/>
                </a:solidFill>
                <a:latin typeface="Arial" pitchFamily="34" charset="0"/>
                <a:ea typeface="Arial" pitchFamily="34" charset="-122"/>
                <a:cs typeface="Arial" pitchFamily="34" charset="-120"/>
              </a:rPr>
              <a:t>PHILIP VILLALOBOS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4"/>
        </a:solidFill>
      </p:bgPr>
    </p:bg>
    <p:spTree>
      <p:nvGrpSpPr>
        <p:cNvPr id="1" name=""/>
        <p:cNvGrpSpPr/>
        <p:nvPr/>
      </p:nvGrpSpPr>
      <p:grpSpPr>
        <a:xfrm>
          <a:off x="0" y="0"/>
          <a:ext cx="0" cy="0"/>
          <a:chOff x="0" y="0"/>
          <a:chExt cx="0" cy="0"/>
        </a:xfrm>
      </p:grpSpPr>
      <p:sp>
        <p:nvSpPr>
          <p:cNvPr id="2" name="Text 0"/>
          <p:cNvSpPr/>
          <p:nvPr/>
        </p:nvSpPr>
        <p:spPr>
          <a:xfrm>
            <a:off x="1005840" y="777240"/>
            <a:ext cx="7315200" cy="365760"/>
          </a:xfrm>
          <a:prstGeom prst="rect">
            <a:avLst/>
          </a:prstGeom>
          <a:noFill/>
          <a:ln/>
        </p:spPr>
        <p:txBody>
          <a:bodyPr wrap="square" rtlCol="0" anchor="ctr"/>
          <a:lstStyle/>
          <a:p>
            <a:pPr indent="0" marL="0">
              <a:buNone/>
            </a:pPr>
            <a:r>
              <a:rPr lang="en-US" sz="1200" b="1" spc="150" kern="0" dirty="0">
                <a:solidFill>
                  <a:srgbClr val="E8A857"/>
                </a:solidFill>
                <a:latin typeface="Arial" pitchFamily="34" charset="0"/>
                <a:ea typeface="Arial" pitchFamily="34" charset="-122"/>
                <a:cs typeface="Arial" pitchFamily="34" charset="-120"/>
              </a:rPr>
              <a:t>SKILLS DEMONSTRATED</a:t>
            </a:r>
            <a:endParaRPr lang="en-US" sz="1200" dirty="0"/>
          </a:p>
        </p:txBody>
      </p:sp>
      <p:sp>
        <p:nvSpPr>
          <p:cNvPr id="3" name="Text 1"/>
          <p:cNvSpPr/>
          <p:nvPr/>
        </p:nvSpPr>
        <p:spPr>
          <a:xfrm>
            <a:off x="1005840" y="1170432"/>
            <a:ext cx="10058400" cy="685800"/>
          </a:xfrm>
          <a:prstGeom prst="rect">
            <a:avLst/>
          </a:prstGeom>
          <a:noFill/>
          <a:ln/>
        </p:spPr>
        <p:txBody>
          <a:bodyPr wrap="square" rtlCol="0" anchor="ctr"/>
          <a:lstStyle/>
          <a:p>
            <a:pPr indent="0" marL="0">
              <a:buNone/>
            </a:pPr>
            <a:r>
              <a:rPr lang="en-US" sz="2600" b="1" dirty="0">
                <a:solidFill>
                  <a:srgbClr val="DCE4EE"/>
                </a:solidFill>
                <a:latin typeface="Arial" pitchFamily="34" charset="0"/>
                <a:ea typeface="Arial" pitchFamily="34" charset="-122"/>
                <a:cs typeface="Arial" pitchFamily="34" charset="-120"/>
              </a:rPr>
              <a:t>What This Project Built</a:t>
            </a:r>
            <a:endParaRPr lang="en-US" sz="2600" dirty="0"/>
          </a:p>
        </p:txBody>
      </p:sp>
      <p:sp>
        <p:nvSpPr>
          <p:cNvPr id="4" name="Shape 2"/>
          <p:cNvSpPr/>
          <p:nvPr/>
        </p:nvSpPr>
        <p:spPr>
          <a:xfrm>
            <a:off x="1005840" y="2057400"/>
            <a:ext cx="3209544" cy="1874520"/>
          </a:xfrm>
          <a:prstGeom prst="rect">
            <a:avLst/>
          </a:prstGeom>
          <a:solidFill>
            <a:srgbClr val="111823"/>
          </a:solidFill>
          <a:ln w="12700">
            <a:solidFill>
              <a:srgbClr val="222E40"/>
            </a:solidFill>
            <a:prstDash val="solid"/>
          </a:ln>
        </p:spPr>
      </p:sp>
      <p:sp>
        <p:nvSpPr>
          <p:cNvPr id="5" name="Shape 3"/>
          <p:cNvSpPr/>
          <p:nvPr/>
        </p:nvSpPr>
        <p:spPr>
          <a:xfrm>
            <a:off x="1261872" y="2295144"/>
            <a:ext cx="100584" cy="100584"/>
          </a:xfrm>
          <a:prstGeom prst="rect">
            <a:avLst/>
          </a:prstGeom>
          <a:solidFill>
            <a:srgbClr val="5EE6C7"/>
          </a:solidFill>
          <a:ln/>
        </p:spPr>
      </p:sp>
      <p:sp>
        <p:nvSpPr>
          <p:cNvPr id="6" name="Text 4"/>
          <p:cNvSpPr/>
          <p:nvPr/>
        </p:nvSpPr>
        <p:spPr>
          <a:xfrm>
            <a:off x="1261872" y="2514600"/>
            <a:ext cx="2697480" cy="1188720"/>
          </a:xfrm>
          <a:prstGeom prst="rect">
            <a:avLst/>
          </a:prstGeom>
          <a:noFill/>
          <a:ln/>
        </p:spPr>
        <p:txBody>
          <a:bodyPr wrap="square" rtlCol="0" anchor="t"/>
          <a:lstStyle/>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Sensor-Based</a:t>
            </a:r>
            <a:endParaRPr lang="en-US" sz="1350" dirty="0"/>
          </a:p>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Automation Logic</a:t>
            </a:r>
            <a:endParaRPr lang="en-US" sz="1350" dirty="0"/>
          </a:p>
        </p:txBody>
      </p:sp>
      <p:sp>
        <p:nvSpPr>
          <p:cNvPr id="7" name="Shape 5"/>
          <p:cNvSpPr/>
          <p:nvPr/>
        </p:nvSpPr>
        <p:spPr>
          <a:xfrm>
            <a:off x="4489704" y="2057400"/>
            <a:ext cx="3209544" cy="1874520"/>
          </a:xfrm>
          <a:prstGeom prst="rect">
            <a:avLst/>
          </a:prstGeom>
          <a:solidFill>
            <a:srgbClr val="111823"/>
          </a:solidFill>
          <a:ln w="12700">
            <a:solidFill>
              <a:srgbClr val="222E40"/>
            </a:solidFill>
            <a:prstDash val="solid"/>
          </a:ln>
        </p:spPr>
      </p:sp>
      <p:sp>
        <p:nvSpPr>
          <p:cNvPr id="8" name="Shape 6"/>
          <p:cNvSpPr/>
          <p:nvPr/>
        </p:nvSpPr>
        <p:spPr>
          <a:xfrm>
            <a:off x="4745736" y="2295144"/>
            <a:ext cx="100584" cy="100584"/>
          </a:xfrm>
          <a:prstGeom prst="rect">
            <a:avLst/>
          </a:prstGeom>
          <a:solidFill>
            <a:srgbClr val="5EE6C7"/>
          </a:solidFill>
          <a:ln/>
        </p:spPr>
      </p:sp>
      <p:sp>
        <p:nvSpPr>
          <p:cNvPr id="9" name="Text 7"/>
          <p:cNvSpPr/>
          <p:nvPr/>
        </p:nvSpPr>
        <p:spPr>
          <a:xfrm>
            <a:off x="4745736" y="2514600"/>
            <a:ext cx="2697480" cy="1188720"/>
          </a:xfrm>
          <a:prstGeom prst="rect">
            <a:avLst/>
          </a:prstGeom>
          <a:noFill/>
          <a:ln/>
        </p:spPr>
        <p:txBody>
          <a:bodyPr wrap="square" rtlCol="0" anchor="t"/>
          <a:lstStyle/>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Circuit Design &amp;</a:t>
            </a:r>
            <a:endParaRPr lang="en-US" sz="1350" dirty="0"/>
          </a:p>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Wiring (TinkerCad)</a:t>
            </a:r>
            <a:endParaRPr lang="en-US" sz="1350" dirty="0"/>
          </a:p>
        </p:txBody>
      </p:sp>
      <p:sp>
        <p:nvSpPr>
          <p:cNvPr id="10" name="Shape 8"/>
          <p:cNvSpPr/>
          <p:nvPr/>
        </p:nvSpPr>
        <p:spPr>
          <a:xfrm>
            <a:off x="7973568" y="2057400"/>
            <a:ext cx="3209544" cy="1874520"/>
          </a:xfrm>
          <a:prstGeom prst="rect">
            <a:avLst/>
          </a:prstGeom>
          <a:solidFill>
            <a:srgbClr val="111823"/>
          </a:solidFill>
          <a:ln w="12700">
            <a:solidFill>
              <a:srgbClr val="222E40"/>
            </a:solidFill>
            <a:prstDash val="solid"/>
          </a:ln>
        </p:spPr>
      </p:sp>
      <p:sp>
        <p:nvSpPr>
          <p:cNvPr id="11" name="Shape 9"/>
          <p:cNvSpPr/>
          <p:nvPr/>
        </p:nvSpPr>
        <p:spPr>
          <a:xfrm>
            <a:off x="8229600" y="2295144"/>
            <a:ext cx="100584" cy="100584"/>
          </a:xfrm>
          <a:prstGeom prst="rect">
            <a:avLst/>
          </a:prstGeom>
          <a:solidFill>
            <a:srgbClr val="5EE6C7"/>
          </a:solidFill>
          <a:ln/>
        </p:spPr>
      </p:sp>
      <p:sp>
        <p:nvSpPr>
          <p:cNvPr id="12" name="Text 10"/>
          <p:cNvSpPr/>
          <p:nvPr/>
        </p:nvSpPr>
        <p:spPr>
          <a:xfrm>
            <a:off x="8229600" y="2514600"/>
            <a:ext cx="2697480" cy="1188720"/>
          </a:xfrm>
          <a:prstGeom prst="rect">
            <a:avLst/>
          </a:prstGeom>
          <a:noFill/>
          <a:ln/>
        </p:spPr>
        <p:txBody>
          <a:bodyPr wrap="square" rtlCol="0" anchor="t"/>
          <a:lstStyle/>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Arduino IDE</a:t>
            </a:r>
            <a:endParaRPr lang="en-US" sz="1350" dirty="0"/>
          </a:p>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Programming</a:t>
            </a:r>
            <a:endParaRPr lang="en-US" sz="1350" dirty="0"/>
          </a:p>
        </p:txBody>
      </p:sp>
      <p:sp>
        <p:nvSpPr>
          <p:cNvPr id="13" name="Shape 11"/>
          <p:cNvSpPr/>
          <p:nvPr/>
        </p:nvSpPr>
        <p:spPr>
          <a:xfrm>
            <a:off x="1005840" y="4206240"/>
            <a:ext cx="3209544" cy="1874520"/>
          </a:xfrm>
          <a:prstGeom prst="rect">
            <a:avLst/>
          </a:prstGeom>
          <a:solidFill>
            <a:srgbClr val="111823"/>
          </a:solidFill>
          <a:ln w="12700">
            <a:solidFill>
              <a:srgbClr val="222E40"/>
            </a:solidFill>
            <a:prstDash val="solid"/>
          </a:ln>
        </p:spPr>
      </p:sp>
      <p:sp>
        <p:nvSpPr>
          <p:cNvPr id="14" name="Shape 12"/>
          <p:cNvSpPr/>
          <p:nvPr/>
        </p:nvSpPr>
        <p:spPr>
          <a:xfrm>
            <a:off x="1261872" y="4443984"/>
            <a:ext cx="100584" cy="100584"/>
          </a:xfrm>
          <a:prstGeom prst="rect">
            <a:avLst/>
          </a:prstGeom>
          <a:solidFill>
            <a:srgbClr val="5EE6C7"/>
          </a:solidFill>
          <a:ln/>
        </p:spPr>
      </p:sp>
      <p:sp>
        <p:nvSpPr>
          <p:cNvPr id="15" name="Text 13"/>
          <p:cNvSpPr/>
          <p:nvPr/>
        </p:nvSpPr>
        <p:spPr>
          <a:xfrm>
            <a:off x="1261872" y="4663440"/>
            <a:ext cx="2697480" cy="1188720"/>
          </a:xfrm>
          <a:prstGeom prst="rect">
            <a:avLst/>
          </a:prstGeom>
          <a:noFill/>
          <a:ln/>
        </p:spPr>
        <p:txBody>
          <a:bodyPr wrap="square" rtlCol="0" anchor="t"/>
          <a:lstStyle/>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Testing, Debugging</a:t>
            </a:r>
            <a:endParaRPr lang="en-US" sz="1350" dirty="0"/>
          </a:p>
          <a:p>
            <a:pPr indent="0" marL="0">
              <a:lnSpc>
                <a:spcPct val="120000"/>
              </a:lnSpc>
              <a:buNone/>
            </a:pPr>
            <a:r>
              <a:rPr lang="en-US" sz="1350" b="1" dirty="0">
                <a:solidFill>
                  <a:srgbClr val="DCE4EE"/>
                </a:solidFill>
                <a:latin typeface="Arial" pitchFamily="34" charset="0"/>
                <a:ea typeface="Arial" pitchFamily="34" charset="-122"/>
                <a:cs typeface="Arial" pitchFamily="34" charset="-120"/>
              </a:rPr>
              <a:t>&amp; Data Analysis</a:t>
            </a:r>
            <a:endParaRPr lang="en-US" sz="1350" dirty="0"/>
          </a:p>
        </p:txBody>
      </p:sp>
      <p:sp>
        <p:nvSpPr>
          <p:cNvPr id="16" name="Text 14"/>
          <p:cNvSpPr/>
          <p:nvPr/>
        </p:nvSpPr>
        <p:spPr>
          <a:xfrm>
            <a:off x="640080" y="6455664"/>
            <a:ext cx="3657600" cy="292608"/>
          </a:xfrm>
          <a:prstGeom prst="rect">
            <a:avLst/>
          </a:prstGeom>
          <a:noFill/>
          <a:ln/>
        </p:spPr>
        <p:txBody>
          <a:bodyPr wrap="square" rtlCol="0" anchor="ctr"/>
          <a:lstStyle/>
          <a:p>
            <a:pPr indent="0" marL="0">
              <a:buNone/>
            </a:pPr>
            <a:r>
              <a:rPr lang="en-US" sz="900" spc="100" kern="0" dirty="0">
                <a:solidFill>
                  <a:srgbClr val="8FA0B3"/>
                </a:solidFill>
                <a:latin typeface="Arial" pitchFamily="34" charset="0"/>
                <a:ea typeface="Arial" pitchFamily="34" charset="-122"/>
                <a:cs typeface="Arial" pitchFamily="34" charset="-120"/>
              </a:rPr>
              <a:t>05 / 06</a:t>
            </a:r>
            <a:endParaRPr lang="en-US" sz="900" dirty="0"/>
          </a:p>
        </p:txBody>
      </p:sp>
      <p:sp>
        <p:nvSpPr>
          <p:cNvPr id="17" name="Text 15"/>
          <p:cNvSpPr/>
          <p:nvPr/>
        </p:nvSpPr>
        <p:spPr>
          <a:xfrm>
            <a:off x="7894015" y="6455664"/>
            <a:ext cx="3657600" cy="292608"/>
          </a:xfrm>
          <a:prstGeom prst="rect">
            <a:avLst/>
          </a:prstGeom>
          <a:noFill/>
          <a:ln/>
        </p:spPr>
        <p:txBody>
          <a:bodyPr wrap="square" rtlCol="0" anchor="ctr"/>
          <a:lstStyle/>
          <a:p>
            <a:pPr algn="r" indent="0" marL="0">
              <a:buNone/>
            </a:pPr>
            <a:r>
              <a:rPr lang="en-US" sz="900" spc="100" kern="0" dirty="0">
                <a:solidFill>
                  <a:srgbClr val="8FA0B3"/>
                </a:solidFill>
                <a:latin typeface="Arial" pitchFamily="34" charset="0"/>
                <a:ea typeface="Arial" pitchFamily="34" charset="-122"/>
                <a:cs typeface="Arial" pitchFamily="34" charset="-120"/>
              </a:rPr>
              <a:t>PHILIP VILLALOBOS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4"/>
        </a:solidFill>
      </p:bgPr>
    </p:bg>
    <p:spTree>
      <p:nvGrpSpPr>
        <p:cNvPr id="1" name=""/>
        <p:cNvGrpSpPr/>
        <p:nvPr/>
      </p:nvGrpSpPr>
      <p:grpSpPr>
        <a:xfrm>
          <a:off x="0" y="0"/>
          <a:ext cx="0" cy="0"/>
          <a:chOff x="0" y="0"/>
          <a:chExt cx="0" cy="0"/>
        </a:xfrm>
      </p:grpSpPr>
      <p:sp>
        <p:nvSpPr>
          <p:cNvPr id="2" name="Text 0"/>
          <p:cNvSpPr/>
          <p:nvPr/>
        </p:nvSpPr>
        <p:spPr>
          <a:xfrm>
            <a:off x="1280160" y="1737360"/>
            <a:ext cx="9601200" cy="365760"/>
          </a:xfrm>
          <a:prstGeom prst="rect">
            <a:avLst/>
          </a:prstGeom>
          <a:noFill/>
          <a:ln/>
        </p:spPr>
        <p:txBody>
          <a:bodyPr wrap="square" rtlCol="0" anchor="ctr"/>
          <a:lstStyle/>
          <a:p>
            <a:pPr indent="0" marL="0">
              <a:buNone/>
            </a:pPr>
            <a:r>
              <a:rPr lang="en-US" sz="1200" b="1" spc="200" kern="0" dirty="0">
                <a:solidFill>
                  <a:srgbClr val="5EE6C7"/>
                </a:solidFill>
                <a:latin typeface="Arial" pitchFamily="34" charset="0"/>
                <a:ea typeface="Arial" pitchFamily="34" charset="-122"/>
                <a:cs typeface="Arial" pitchFamily="34" charset="-120"/>
              </a:rPr>
              <a:t>CONCLUSION</a:t>
            </a:r>
            <a:endParaRPr lang="en-US" sz="1200" dirty="0"/>
          </a:p>
        </p:txBody>
      </p:sp>
      <p:sp>
        <p:nvSpPr>
          <p:cNvPr id="3" name="Text 1"/>
          <p:cNvSpPr/>
          <p:nvPr/>
        </p:nvSpPr>
        <p:spPr>
          <a:xfrm>
            <a:off x="1280160" y="2286000"/>
            <a:ext cx="9601200" cy="3017520"/>
          </a:xfrm>
          <a:prstGeom prst="rect">
            <a:avLst/>
          </a:prstGeom>
          <a:noFill/>
          <a:ln/>
        </p:spPr>
        <p:txBody>
          <a:bodyPr wrap="square" rtlCol="0" anchor="t"/>
          <a:lstStyle/>
          <a:p>
            <a:pPr indent="0" marL="0">
              <a:lnSpc>
                <a:spcPct val="140000"/>
              </a:lnSpc>
              <a:buNone/>
            </a:pPr>
            <a:r>
              <a:rPr lang="en-US" sz="1900" dirty="0">
                <a:solidFill>
                  <a:srgbClr val="DCE4EE"/>
                </a:solidFill>
                <a:latin typeface="Arial" pitchFamily="34" charset="0"/>
                <a:ea typeface="Arial" pitchFamily="34" charset="-122"/>
                <a:cs typeface="Arial" pitchFamily="34" charset="-120"/>
              </a:rPr>
              <a:t>This project strengthened my understanding of how smart home technology works — from sensor calibration to automation logic — and built my confidence working hands-on with TinkerCad and the Arduino IDE. It's a foundation I'm continuing to build on as I move further into IoT and cybersecurity.</a:t>
            </a:r>
            <a:endParaRPr lang="en-US" sz="1900" dirty="0"/>
          </a:p>
        </p:txBody>
      </p:sp>
      <p:sp>
        <p:nvSpPr>
          <p:cNvPr id="4" name="Text 2"/>
          <p:cNvSpPr/>
          <p:nvPr/>
        </p:nvSpPr>
        <p:spPr>
          <a:xfrm>
            <a:off x="640080" y="6455664"/>
            <a:ext cx="3657600" cy="292608"/>
          </a:xfrm>
          <a:prstGeom prst="rect">
            <a:avLst/>
          </a:prstGeom>
          <a:noFill/>
          <a:ln/>
        </p:spPr>
        <p:txBody>
          <a:bodyPr wrap="square" rtlCol="0" anchor="ctr"/>
          <a:lstStyle/>
          <a:p>
            <a:pPr indent="0" marL="0">
              <a:buNone/>
            </a:pPr>
            <a:r>
              <a:rPr lang="en-US" sz="900" spc="100" kern="0" dirty="0">
                <a:solidFill>
                  <a:srgbClr val="8FA0B3"/>
                </a:solidFill>
                <a:latin typeface="Arial" pitchFamily="34" charset="0"/>
                <a:ea typeface="Arial" pitchFamily="34" charset="-122"/>
                <a:cs typeface="Arial" pitchFamily="34" charset="-120"/>
              </a:rPr>
              <a:t>06 / 06</a:t>
            </a:r>
            <a:endParaRPr lang="en-US" sz="900" dirty="0"/>
          </a:p>
        </p:txBody>
      </p:sp>
      <p:sp>
        <p:nvSpPr>
          <p:cNvPr id="5" name="Text 3"/>
          <p:cNvSpPr/>
          <p:nvPr/>
        </p:nvSpPr>
        <p:spPr>
          <a:xfrm>
            <a:off x="7894015" y="6455664"/>
            <a:ext cx="3657600" cy="292608"/>
          </a:xfrm>
          <a:prstGeom prst="rect">
            <a:avLst/>
          </a:prstGeom>
          <a:noFill/>
          <a:ln/>
        </p:spPr>
        <p:txBody>
          <a:bodyPr wrap="square" rtlCol="0" anchor="ctr"/>
          <a:lstStyle/>
          <a:p>
            <a:pPr algn="r" indent="0" marL="0">
              <a:buNone/>
            </a:pPr>
            <a:r>
              <a:rPr lang="en-US" sz="900" spc="100" kern="0" dirty="0">
                <a:solidFill>
                  <a:srgbClr val="8FA0B3"/>
                </a:solidFill>
                <a:latin typeface="Arial" pitchFamily="34" charset="0"/>
                <a:ea typeface="Arial" pitchFamily="34" charset="-122"/>
                <a:cs typeface="Arial" pitchFamily="34" charset="-120"/>
              </a:rPr>
              <a:t>PHILIP VILLALOBOS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2026-08-13T17:59:59Z</dcterms:created>
  <dcterms:modified xsi:type="dcterms:W3CDTF">2026-08-13T17:59:59Z</dcterms:modified>
</cp:coreProperties>
</file>